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12"/>
  </p:notesMasterIdLst>
  <p:sldIdLst>
    <p:sldId id="285" r:id="rId2"/>
    <p:sldId id="276" r:id="rId3"/>
    <p:sldId id="288" r:id="rId4"/>
    <p:sldId id="270" r:id="rId5"/>
    <p:sldId id="287" r:id="rId6"/>
    <p:sldId id="289" r:id="rId7"/>
    <p:sldId id="290" r:id="rId8"/>
    <p:sldId id="283" r:id="rId9"/>
    <p:sldId id="284" r:id="rId10"/>
    <p:sldId id="273"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19" autoAdjust="0"/>
    <p:restoredTop sz="94660"/>
  </p:normalViewPr>
  <p:slideViewPr>
    <p:cSldViewPr>
      <p:cViewPr varScale="1">
        <p:scale>
          <a:sx n="70" d="100"/>
          <a:sy n="70" d="100"/>
        </p:scale>
        <p:origin x="1302"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6CD895D-D788-4B08-93B3-B78EFB535739}" type="datetimeFigureOut">
              <a:rPr lang="en-IN" smtClean="0"/>
              <a:t>08-09-2020</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5432714-8A85-4045-9756-8E58AB7B761B}" type="slidenum">
              <a:rPr lang="en-IN" smtClean="0"/>
              <a:t>‹#›</a:t>
            </a:fld>
            <a:endParaRPr lang="en-IN" dirty="0"/>
          </a:p>
        </p:txBody>
      </p:sp>
    </p:spTree>
    <p:extLst>
      <p:ext uri="{BB962C8B-B14F-4D97-AF65-F5344CB8AC3E}">
        <p14:creationId xmlns:p14="http://schemas.microsoft.com/office/powerpoint/2010/main" val="956134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2</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511143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3</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1330829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4</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48150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5</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488464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6</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105406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7</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608439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8</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918210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ECB7F0-34A5-4C70-97E9-77E6D8EC06C7}" type="slidenum">
              <a:rPr lang="en-US"/>
              <a:pPr/>
              <a:t>9</a:t>
            </a:fld>
            <a:endParaRPr lang="en-US" dirty="0"/>
          </a:p>
        </p:txBody>
      </p:sp>
      <p:sp>
        <p:nvSpPr>
          <p:cNvPr id="521218" name="Rectangle 2"/>
          <p:cNvSpPr>
            <a:spLocks noGrp="1" noRot="1" noChangeAspect="1"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771270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2655081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56" y="0"/>
            <a:ext cx="9147855" cy="548680"/>
          </a:xfrm>
        </p:spPr>
        <p:txBody>
          <a:bodyPr>
            <a:normAutofit/>
          </a:bodyPr>
          <a:lstStyle>
            <a:lvl1pPr algn="l">
              <a:defRPr sz="2800" b="1"/>
            </a:lvl1pPr>
          </a:lstStyle>
          <a:p>
            <a:r>
              <a:rPr lang="en-US" smtClean="0"/>
              <a:t>Click to edit Master title style</a:t>
            </a:r>
            <a:endParaRPr lang="en-IN"/>
          </a:p>
        </p:txBody>
      </p:sp>
      <p:sp>
        <p:nvSpPr>
          <p:cNvPr id="3" name="Content Placeholder 2"/>
          <p:cNvSpPr>
            <a:spLocks noGrp="1"/>
          </p:cNvSpPr>
          <p:nvPr>
            <p:ph idx="1"/>
          </p:nvPr>
        </p:nvSpPr>
        <p:spPr>
          <a:xfrm>
            <a:off x="0" y="764704"/>
            <a:ext cx="9144000" cy="5400600"/>
          </a:xfrm>
        </p:spPr>
        <p:txBody>
          <a:bodyPr>
            <a:normAutofit/>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Slide Number Placeholder 5"/>
          <p:cNvSpPr>
            <a:spLocks noGrp="1"/>
          </p:cNvSpPr>
          <p:nvPr>
            <p:ph type="sldNum" sz="quarter" idx="12"/>
          </p:nvPr>
        </p:nvSpPr>
        <p:spPr>
          <a:xfrm>
            <a:off x="0" y="6492064"/>
            <a:ext cx="395064" cy="365125"/>
          </a:xfrm>
        </p:spPr>
        <p:txBody>
          <a:bodyPr/>
          <a:lstStyle>
            <a:lvl1pPr algn="ctr">
              <a:defRPr/>
            </a:lvl1pPr>
          </a:lstStyle>
          <a:p>
            <a:fld id="{08FC1071-F2DF-4CA9-AA63-FF97A16BD739}" type="slidenum">
              <a:rPr lang="en-IN" smtClean="0"/>
              <a:pPr/>
              <a:t>‹#›</a:t>
            </a:fld>
            <a:endParaRPr lang="en-IN" dirty="0"/>
          </a:p>
        </p:txBody>
      </p:sp>
    </p:spTree>
    <p:extLst>
      <p:ext uri="{BB962C8B-B14F-4D97-AF65-F5344CB8AC3E}">
        <p14:creationId xmlns:p14="http://schemas.microsoft.com/office/powerpoint/2010/main" val="1321531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2055396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095711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IN"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9" name="Slide Number Placeholder 8"/>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54691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IN" dirty="0"/>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5" name="Slide Number Placeholder 4"/>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61577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IN" dirty="0"/>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4" name="Slide Number Placeholder 3"/>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420485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961854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IN"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7" name="Slide Number Placeholder 6"/>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3029271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3707677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IN"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dirty="0"/>
          </a:p>
        </p:txBody>
      </p:sp>
      <p:sp>
        <p:nvSpPr>
          <p:cNvPr id="6" name="Slide Number Placeholder 5"/>
          <p:cNvSpPr>
            <a:spLocks noGrp="1"/>
          </p:cNvSpPr>
          <p:nvPr>
            <p:ph type="sldNum" sz="quarter" idx="12"/>
          </p:nvPr>
        </p:nvSpPr>
        <p:spPr/>
        <p:txBody>
          <a:bodyPr/>
          <a:lstStyle/>
          <a:p>
            <a:fld id="{08FC1071-F2DF-4CA9-AA63-FF97A16BD739}" type="slidenum">
              <a:rPr lang="en-IN" smtClean="0"/>
              <a:t>‹#›</a:t>
            </a:fld>
            <a:endParaRPr lang="en-IN" dirty="0"/>
          </a:p>
        </p:txBody>
      </p:sp>
    </p:spTree>
    <p:extLst>
      <p:ext uri="{BB962C8B-B14F-4D97-AF65-F5344CB8AC3E}">
        <p14:creationId xmlns:p14="http://schemas.microsoft.com/office/powerpoint/2010/main" val="1053088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676" y="8721"/>
            <a:ext cx="9163676" cy="490066"/>
          </a:xfrm>
          <a:prstGeom prst="rect">
            <a:avLst/>
          </a:prstGeom>
        </p:spPr>
        <p:txBody>
          <a:bodyPr vert="horz" lIns="91440" tIns="45720" rIns="91440" bIns="45720" rtlCol="0" anchor="ctr">
            <a:normAutofit/>
          </a:bodyPr>
          <a:lstStyle/>
          <a:p>
            <a:pPr lvl="0" algn="l"/>
            <a:r>
              <a:rPr lang="en-US" smtClean="0"/>
              <a:t>Click to edit Master title style</a:t>
            </a:r>
            <a:endParaRPr lang="en-IN"/>
          </a:p>
        </p:txBody>
      </p:sp>
      <p:sp>
        <p:nvSpPr>
          <p:cNvPr id="3" name="Text Placeholder 2"/>
          <p:cNvSpPr>
            <a:spLocks noGrp="1"/>
          </p:cNvSpPr>
          <p:nvPr>
            <p:ph type="body" idx="1"/>
          </p:nvPr>
        </p:nvSpPr>
        <p:spPr>
          <a:xfrm>
            <a:off x="0" y="620688"/>
            <a:ext cx="9144000" cy="568863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6" name="Slide Number Placeholder 5"/>
          <p:cNvSpPr>
            <a:spLocks noGrp="1"/>
          </p:cNvSpPr>
          <p:nvPr>
            <p:ph type="sldNum" sz="quarter" idx="4"/>
          </p:nvPr>
        </p:nvSpPr>
        <p:spPr>
          <a:xfrm>
            <a:off x="0" y="6492875"/>
            <a:ext cx="46707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8FC1071-F2DF-4CA9-AA63-FF97A16BD739}" type="slidenum">
              <a:rPr lang="en-IN" smtClean="0"/>
              <a:pPr/>
              <a:t>‹#›</a:t>
            </a:fld>
            <a:endParaRPr lang="en-IN" dirty="0"/>
          </a:p>
        </p:txBody>
      </p:sp>
    </p:spTree>
    <p:extLst>
      <p:ext uri="{BB962C8B-B14F-4D97-AF65-F5344CB8AC3E}">
        <p14:creationId xmlns:p14="http://schemas.microsoft.com/office/powerpoint/2010/main" val="3888646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lang="en-IN" sz="2800" b="1" kern="120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kaggle.com/c/titanic"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87449"/>
            <a:ext cx="9144000" cy="1080120"/>
          </a:xfrm>
        </p:spPr>
        <p:txBody>
          <a:bodyPr>
            <a:normAutofit fontScale="90000"/>
          </a:bodyPr>
          <a:lstStyle/>
          <a:p>
            <a:pPr fontAlgn="base">
              <a:spcAft>
                <a:spcPct val="0"/>
              </a:spcAft>
            </a:pPr>
            <a:r>
              <a:rPr lang="en-US" sz="2700" dirty="0">
                <a:ea typeface="Droid Sans Fallback"/>
                <a:cs typeface="Times New Roman" pitchFamily="18" charset="0"/>
              </a:rPr>
              <a:t> </a:t>
            </a:r>
            <a:r>
              <a:rPr lang="en-IN" sz="2700" dirty="0">
                <a:ea typeface="Droid Sans Fallback"/>
                <a:cs typeface="Times New Roman" pitchFamily="18" charset="0"/>
              </a:rPr>
              <a:t>TITANIC SURVIVORS PREDICTION – MACHINE LEARNING</a:t>
            </a:r>
            <a:r>
              <a:rPr lang="en-US" sz="2000" dirty="0" smtClean="0">
                <a:ea typeface="Droid Sans Fallback"/>
                <a:cs typeface="Times New Roman" pitchFamily="18" charset="0"/>
              </a:rPr>
              <a:t/>
            </a:r>
            <a:br>
              <a:rPr lang="en-US" sz="2000" dirty="0" smtClean="0">
                <a:ea typeface="Droid Sans Fallback"/>
                <a:cs typeface="Times New Roman" pitchFamily="18" charset="0"/>
              </a:rPr>
            </a:br>
            <a:r>
              <a:rPr lang="en-US" sz="2400" dirty="0" smtClean="0">
                <a:ea typeface="Droid Sans Fallback"/>
                <a:cs typeface="Times New Roman" pitchFamily="18" charset="0"/>
              </a:rPr>
              <a:t>Industrial Training Project Synopsis </a:t>
            </a:r>
            <a:r>
              <a:rPr lang="en-US" sz="2400" dirty="0">
                <a:ea typeface="Droid Sans Fallback"/>
                <a:cs typeface="Times New Roman" pitchFamily="18" charset="0"/>
              </a:rPr>
              <a:t>Presentation </a:t>
            </a:r>
            <a:r>
              <a:rPr lang="en-US" sz="2400" dirty="0" smtClean="0">
                <a:ea typeface="Droid Sans Fallback"/>
                <a:cs typeface="Times New Roman" pitchFamily="18" charset="0"/>
              </a:rPr>
              <a:t/>
            </a:r>
            <a:br>
              <a:rPr lang="en-US" sz="2400" dirty="0" smtClean="0">
                <a:ea typeface="Droid Sans Fallback"/>
                <a:cs typeface="Times New Roman" pitchFamily="18" charset="0"/>
              </a:rPr>
            </a:br>
            <a:r>
              <a:rPr lang="en-US" sz="2000" dirty="0" smtClean="0">
                <a:solidFill>
                  <a:srgbClr val="0033CC"/>
                </a:solidFill>
                <a:latin typeface="Calibri" pitchFamily="34" charset="0"/>
                <a:ea typeface="Droid Sans Fallback"/>
                <a:cs typeface="Times New Roman" pitchFamily="18" charset="0"/>
              </a:rPr>
              <a:t>Date</a:t>
            </a:r>
            <a:r>
              <a:rPr lang="en-US" sz="2000">
                <a:solidFill>
                  <a:srgbClr val="0033CC"/>
                </a:solidFill>
                <a:latin typeface="Calibri" pitchFamily="34" charset="0"/>
                <a:ea typeface="Droid Sans Fallback"/>
                <a:cs typeface="Times New Roman" pitchFamily="18" charset="0"/>
              </a:rPr>
              <a:t>: </a:t>
            </a:r>
            <a:r>
              <a:rPr lang="en-US" sz="2000" smtClean="0">
                <a:solidFill>
                  <a:srgbClr val="0033CC"/>
                </a:solidFill>
                <a:latin typeface="Calibri" pitchFamily="34" charset="0"/>
                <a:ea typeface="Droid Sans Fallback"/>
                <a:cs typeface="Times New Roman" pitchFamily="18" charset="0"/>
              </a:rPr>
              <a:t>08/09/2020</a:t>
            </a:r>
            <a:endParaRPr lang="en-IN" sz="2000" dirty="0"/>
          </a:p>
        </p:txBody>
      </p:sp>
      <p:sp>
        <p:nvSpPr>
          <p:cNvPr id="4" name="Slide Number Placeholder 3"/>
          <p:cNvSpPr>
            <a:spLocks noGrp="1"/>
          </p:cNvSpPr>
          <p:nvPr>
            <p:ph type="sldNum" sz="quarter" idx="12"/>
          </p:nvPr>
        </p:nvSpPr>
        <p:spPr/>
        <p:txBody>
          <a:bodyPr/>
          <a:lstStyle/>
          <a:p>
            <a:fld id="{08FC1071-F2DF-4CA9-AA63-FF97A16BD739}" type="slidenum">
              <a:rPr lang="en-IN" smtClean="0"/>
              <a:t>1</a:t>
            </a:fld>
            <a:endParaRPr lang="en-IN" dirty="0"/>
          </a:p>
        </p:txBody>
      </p:sp>
      <p:sp>
        <p:nvSpPr>
          <p:cNvPr id="5" name="Rectangle 4"/>
          <p:cNvSpPr/>
          <p:nvPr/>
        </p:nvSpPr>
        <p:spPr>
          <a:xfrm>
            <a:off x="2323783" y="1585264"/>
            <a:ext cx="4968552" cy="144016"/>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sp>
        <p:nvSpPr>
          <p:cNvPr id="3" name="Rectangle 2"/>
          <p:cNvSpPr/>
          <p:nvPr/>
        </p:nvSpPr>
        <p:spPr>
          <a:xfrm>
            <a:off x="861224" y="6122424"/>
            <a:ext cx="7848872" cy="646331"/>
          </a:xfrm>
          <a:prstGeom prst="rect">
            <a:avLst/>
          </a:prstGeom>
        </p:spPr>
        <p:txBody>
          <a:bodyPr wrap="square">
            <a:spAutoFit/>
          </a:bodyPr>
          <a:lstStyle/>
          <a:p>
            <a:pPr lvl="0" algn="ctr" eaLnBrk="0" fontAlgn="base" hangingPunct="0">
              <a:spcBef>
                <a:spcPct val="0"/>
              </a:spcBef>
              <a:spcAft>
                <a:spcPct val="0"/>
              </a:spcAft>
            </a:pPr>
            <a:r>
              <a:rPr lang="en-IN" b="1" dirty="0">
                <a:latin typeface="Calibri" pitchFamily="34" charset="0"/>
                <a:ea typeface="Droid Sans Fallback"/>
                <a:cs typeface="Calibri" pitchFamily="34" charset="0"/>
              </a:rPr>
              <a:t>FACULTY OF ENGINEERING AND COMPUTING </a:t>
            </a:r>
            <a:r>
              <a:rPr lang="en-IN" b="1" dirty="0" smtClean="0">
                <a:latin typeface="Calibri" pitchFamily="34" charset="0"/>
                <a:ea typeface="Droid Sans Fallback"/>
                <a:cs typeface="Calibri" pitchFamily="34" charset="0"/>
              </a:rPr>
              <a:t>SCIENCES</a:t>
            </a:r>
          </a:p>
          <a:p>
            <a:pPr lvl="0" algn="ctr" eaLnBrk="0" fontAlgn="base" hangingPunct="0">
              <a:spcBef>
                <a:spcPct val="0"/>
              </a:spcBef>
              <a:spcAft>
                <a:spcPct val="0"/>
              </a:spcAft>
            </a:pPr>
            <a:r>
              <a:rPr lang="en-US" b="1" dirty="0" smtClean="0">
                <a:latin typeface="Calibri" pitchFamily="34" charset="0"/>
                <a:ea typeface="Droid Sans Fallback"/>
                <a:cs typeface="Calibri" pitchFamily="34" charset="0"/>
              </a:rPr>
              <a:t>TEERTHANKER </a:t>
            </a:r>
            <a:r>
              <a:rPr lang="en-US" b="1" dirty="0">
                <a:latin typeface="Calibri" pitchFamily="34" charset="0"/>
                <a:ea typeface="Droid Sans Fallback"/>
                <a:cs typeface="Calibri" pitchFamily="34" charset="0"/>
              </a:rPr>
              <a:t>MAHAVEER UNIVERSITY, MORADABAD</a:t>
            </a:r>
            <a:endParaRPr lang="en-US" b="1" dirty="0">
              <a:latin typeface="Arial" pitchFamily="34" charset="0"/>
              <a:ea typeface="Droid Sans Fallback"/>
              <a:cs typeface="Calibri" pitchFamily="34" charset="0"/>
            </a:endParaRPr>
          </a:p>
        </p:txBody>
      </p:sp>
      <p:pic>
        <p:nvPicPr>
          <p:cNvPr id="7"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1301" y="4854798"/>
            <a:ext cx="1204101" cy="108577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611559" y="1863247"/>
            <a:ext cx="8041741" cy="707886"/>
          </a:xfrm>
          <a:prstGeom prst="rect">
            <a:avLst/>
          </a:prstGeom>
        </p:spPr>
        <p:txBody>
          <a:bodyPr wrap="square">
            <a:spAutoFit/>
          </a:bodyPr>
          <a:lstStyle/>
          <a:p>
            <a:pPr lvl="0" algn="ctr" eaLnBrk="0" fontAlgn="base" hangingPunct="0">
              <a:spcBef>
                <a:spcPct val="0"/>
              </a:spcBef>
              <a:spcAft>
                <a:spcPct val="0"/>
              </a:spcAft>
            </a:pPr>
            <a:r>
              <a:rPr lang="en-US" sz="2000" b="1" dirty="0">
                <a:latin typeface="Arial" pitchFamily="34" charset="0"/>
                <a:cs typeface="Arial" pitchFamily="34" charset="0"/>
              </a:rPr>
              <a:t>Industrial </a:t>
            </a:r>
            <a:r>
              <a:rPr lang="en-US" sz="2000" b="1" dirty="0" smtClean="0">
                <a:latin typeface="Arial" pitchFamily="34" charset="0"/>
                <a:cs typeface="Arial" pitchFamily="34" charset="0"/>
              </a:rPr>
              <a:t>Training and Presentation </a:t>
            </a:r>
            <a:r>
              <a:rPr lang="en-US" sz="2000" b="1" dirty="0">
                <a:latin typeface="Arial" pitchFamily="34" charset="0"/>
                <a:cs typeface="Arial" pitchFamily="34" charset="0"/>
              </a:rPr>
              <a:t>(</a:t>
            </a:r>
            <a:r>
              <a:rPr lang="en-US" sz="2000" b="1" dirty="0" smtClean="0">
                <a:latin typeface="Arial" pitchFamily="34" charset="0"/>
                <a:cs typeface="Arial" pitchFamily="34" charset="0"/>
              </a:rPr>
              <a:t>ECS791</a:t>
            </a:r>
            <a:r>
              <a:rPr lang="en-US" sz="2000" b="1" dirty="0">
                <a:latin typeface="Arial" pitchFamily="34" charset="0"/>
                <a:cs typeface="Arial" pitchFamily="34" charset="0"/>
              </a:rPr>
              <a:t>)</a:t>
            </a:r>
          </a:p>
          <a:p>
            <a:pPr lvl="0" algn="ctr" eaLnBrk="0" fontAlgn="base" hangingPunct="0">
              <a:spcBef>
                <a:spcPct val="0"/>
              </a:spcBef>
              <a:spcAft>
                <a:spcPct val="0"/>
              </a:spcAft>
            </a:pPr>
            <a:r>
              <a:rPr lang="en-US" sz="2000" b="1" dirty="0" smtClean="0">
                <a:latin typeface="Calibri" pitchFamily="34" charset="0"/>
                <a:ea typeface="Droid Sans Fallback"/>
                <a:cs typeface="Times New Roman" pitchFamily="18" charset="0"/>
              </a:rPr>
              <a:t>Degree :</a:t>
            </a:r>
            <a:r>
              <a:rPr lang="en-US" sz="2000" b="1" dirty="0" smtClean="0">
                <a:latin typeface="Calibri" pitchFamily="34" charset="0"/>
                <a:ea typeface="Droid Sans Fallback"/>
                <a:cs typeface="Calibri" pitchFamily="34" charset="0"/>
              </a:rPr>
              <a:t> B.Tech (CSE)</a:t>
            </a:r>
            <a:endParaRPr lang="en-US" sz="2000" b="1" dirty="0" smtClean="0">
              <a:latin typeface="Arial" pitchFamily="34" charset="0"/>
              <a:cs typeface="Arial" pitchFamily="34" charset="0"/>
            </a:endParaRPr>
          </a:p>
        </p:txBody>
      </p:sp>
      <p:sp>
        <p:nvSpPr>
          <p:cNvPr id="6" name="Rectangle 5"/>
          <p:cNvSpPr/>
          <p:nvPr/>
        </p:nvSpPr>
        <p:spPr>
          <a:xfrm>
            <a:off x="4081301" y="3181144"/>
            <a:ext cx="4572000" cy="646331"/>
          </a:xfrm>
          <a:prstGeom prst="rect">
            <a:avLst/>
          </a:prstGeom>
        </p:spPr>
        <p:txBody>
          <a:bodyPr>
            <a:spAutoFit/>
          </a:bodyPr>
          <a:lstStyle/>
          <a:p>
            <a:pPr lvl="0" algn="ctr" eaLnBrk="0" fontAlgn="base" hangingPunct="0">
              <a:spcBef>
                <a:spcPct val="0"/>
              </a:spcBef>
              <a:spcAft>
                <a:spcPct val="0"/>
              </a:spcAft>
            </a:pPr>
            <a:r>
              <a:rPr lang="en-US" dirty="0">
                <a:solidFill>
                  <a:srgbClr val="0033CC"/>
                </a:solidFill>
                <a:latin typeface="Calibri" pitchFamily="34" charset="0"/>
                <a:ea typeface="Droid Sans Fallback"/>
                <a:cs typeface="Times New Roman" pitchFamily="18" charset="0"/>
              </a:rPr>
              <a:t>Group: XXX</a:t>
            </a:r>
            <a:endParaRPr lang="en-US" dirty="0">
              <a:solidFill>
                <a:srgbClr val="0033CC"/>
              </a:solidFill>
              <a:latin typeface="Arial" pitchFamily="34" charset="0"/>
              <a:cs typeface="Arial" pitchFamily="34" charset="0"/>
            </a:endParaRPr>
          </a:p>
          <a:p>
            <a:pPr lvl="0" algn="ctr" eaLnBrk="0" fontAlgn="base" hangingPunct="0">
              <a:spcBef>
                <a:spcPct val="0"/>
              </a:spcBef>
              <a:spcAft>
                <a:spcPct val="0"/>
              </a:spcAft>
            </a:pPr>
            <a:r>
              <a:rPr lang="en-US" b="1" dirty="0" smtClean="0">
                <a:solidFill>
                  <a:srgbClr val="0033CC"/>
                </a:solidFill>
                <a:latin typeface="Calibri" pitchFamily="34" charset="0"/>
                <a:cs typeface="Times New Roman" pitchFamily="18" charset="0"/>
              </a:rPr>
              <a:t>Manish Gupta (TCA1709110)</a:t>
            </a:r>
            <a:endParaRPr lang="en-US" b="1" dirty="0">
              <a:solidFill>
                <a:srgbClr val="0033CC"/>
              </a:solidFill>
              <a:latin typeface="Arial" pitchFamily="34" charset="0"/>
              <a:cs typeface="Arial" pitchFamily="34" charset="0"/>
            </a:endParaRPr>
          </a:p>
        </p:txBody>
      </p:sp>
      <p:sp>
        <p:nvSpPr>
          <p:cNvPr id="9" name="Rectangle 8"/>
          <p:cNvSpPr/>
          <p:nvPr/>
        </p:nvSpPr>
        <p:spPr>
          <a:xfrm>
            <a:off x="183733" y="3198719"/>
            <a:ext cx="3740195" cy="646331"/>
          </a:xfrm>
          <a:prstGeom prst="rect">
            <a:avLst/>
          </a:prstGeom>
        </p:spPr>
        <p:txBody>
          <a:bodyPr wrap="square">
            <a:spAutoFit/>
          </a:bodyPr>
          <a:lstStyle/>
          <a:p>
            <a:pPr lvl="0" algn="ctr" eaLnBrk="0" fontAlgn="base" hangingPunct="0">
              <a:spcBef>
                <a:spcPct val="0"/>
              </a:spcBef>
              <a:spcAft>
                <a:spcPct val="0"/>
              </a:spcAft>
            </a:pPr>
            <a:r>
              <a:rPr lang="en-US" dirty="0" smtClean="0">
                <a:solidFill>
                  <a:srgbClr val="0033CC"/>
                </a:solidFill>
                <a:latin typeface="Calibri" pitchFamily="34" charset="0"/>
                <a:ea typeface="Droid Sans Fallback"/>
                <a:cs typeface="Times New Roman" pitchFamily="18" charset="0"/>
              </a:rPr>
              <a:t>Project Guide:</a:t>
            </a:r>
          </a:p>
          <a:p>
            <a:pPr lvl="0" algn="ctr" eaLnBrk="0" fontAlgn="base" hangingPunct="0">
              <a:spcBef>
                <a:spcPct val="0"/>
              </a:spcBef>
              <a:spcAft>
                <a:spcPct val="0"/>
              </a:spcAft>
            </a:pPr>
            <a:r>
              <a:rPr lang="en-US" b="1" dirty="0" smtClean="0">
                <a:solidFill>
                  <a:srgbClr val="0033CC"/>
                </a:solidFill>
                <a:latin typeface="Calibri" pitchFamily="34" charset="0"/>
                <a:cs typeface="Times New Roman" pitchFamily="18" charset="0"/>
              </a:rPr>
              <a:t>Ms. Rohaila Naaz</a:t>
            </a:r>
            <a:endParaRPr lang="en-US" b="1" dirty="0">
              <a:solidFill>
                <a:srgbClr val="0033CC"/>
              </a:solidFill>
              <a:latin typeface="Arial" pitchFamily="34" charset="0"/>
              <a:cs typeface="Arial" pitchFamily="34" charset="0"/>
            </a:endParaRPr>
          </a:p>
        </p:txBody>
      </p:sp>
    </p:spTree>
    <p:extLst>
      <p:ext uri="{BB962C8B-B14F-4D97-AF65-F5344CB8AC3E}">
        <p14:creationId xmlns:p14="http://schemas.microsoft.com/office/powerpoint/2010/main" val="36442873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a:bodyPr>
          <a:lstStyle/>
          <a:p>
            <a:pPr algn="just">
              <a:buFont typeface="Wingdings" panose="05000000000000000000" pitchFamily="2" charset="2"/>
              <a:buChar char="v"/>
            </a:pPr>
            <a:r>
              <a:rPr lang="en-IN" sz="2000" dirty="0"/>
              <a:t>The sinking of the Titanic is one among the foremost infamous shipwrecks in history. While there was some element of luck involved in surviving, it seems some groups of individuals were more likely to survive than others. In this project, my task as a Data Scientist is to build a predictive model that answers the question: “what sorts of people were more likely to survive?” using passenger data (ie name, age, gender, class , etc). The dataset used in this project can be obtained through Kaggle: </a:t>
            </a:r>
            <a:r>
              <a:rPr lang="en-IN" sz="2000" dirty="0">
                <a:hlinkClick r:id="rId3"/>
              </a:rPr>
              <a:t>https://</a:t>
            </a:r>
            <a:r>
              <a:rPr lang="en-IN" sz="2000" dirty="0" smtClean="0">
                <a:hlinkClick r:id="rId3"/>
              </a:rPr>
              <a:t>www.kaggle.com/c/titanic</a:t>
            </a:r>
            <a:endParaRPr lang="en-IN" sz="2000" dirty="0" smtClean="0"/>
          </a:p>
          <a:p>
            <a:pPr algn="just">
              <a:buFont typeface="Wingdings" panose="05000000000000000000" pitchFamily="2" charset="2"/>
              <a:buChar char="v"/>
            </a:pPr>
            <a:endParaRPr lang="en-IN" dirty="0"/>
          </a:p>
          <a:p>
            <a:pPr algn="just">
              <a:buFont typeface="Wingdings" panose="05000000000000000000" pitchFamily="2" charset="2"/>
              <a:buChar char="v"/>
            </a:pPr>
            <a:endParaRPr lang="en-IN" dirty="0" smtClean="0"/>
          </a:p>
          <a:p>
            <a:pPr marL="0" indent="0" algn="just">
              <a:buNone/>
            </a:pPr>
            <a:endParaRPr lang="en-IN" dirty="0" smtClean="0"/>
          </a:p>
          <a:p>
            <a:pPr marL="0" indent="0" algn="just">
              <a:buNone/>
            </a:pPr>
            <a:endParaRPr lang="en-IN" dirty="0" smtClean="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2</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US" dirty="0"/>
              <a:t>Project Brief</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2</a:t>
            </a:fld>
            <a:endParaRPr lang="en-IN" dirty="0">
              <a:solidFill>
                <a:schemeClr val="bg1"/>
              </a:solidFill>
            </a:endParaRPr>
          </a:p>
        </p:txBody>
      </p:sp>
      <p:sp>
        <p:nvSpPr>
          <p:cNvPr id="4" name="TextBox 3"/>
          <p:cNvSpPr txBox="1"/>
          <p:nvPr/>
        </p:nvSpPr>
        <p:spPr>
          <a:xfrm>
            <a:off x="1547664" y="6298600"/>
            <a:ext cx="184731" cy="338554"/>
          </a:xfrm>
          <a:prstGeom prst="rect">
            <a:avLst/>
          </a:prstGeom>
          <a:noFill/>
        </p:spPr>
        <p:txBody>
          <a:bodyPr wrap="none" rtlCol="0">
            <a:spAutoFit/>
          </a:bodyPr>
          <a:lstStyle/>
          <a:p>
            <a:endParaRPr lang="en-IN" sz="1600" b="1" i="1" dirty="0">
              <a:solidFill>
                <a:srgbClr val="FFFF00"/>
              </a:solidFill>
            </a:endParaRPr>
          </a:p>
        </p:txBody>
      </p:sp>
      <p:sp>
        <p:nvSpPr>
          <p:cNvPr id="11" name="TextBox 10"/>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1363" y="3120323"/>
            <a:ext cx="8497416" cy="2824135"/>
          </a:xfrm>
          <a:prstGeom prst="rect">
            <a:avLst/>
          </a:prstGeom>
        </p:spPr>
      </p:pic>
    </p:spTree>
    <p:extLst>
      <p:ext uri="{BB962C8B-B14F-4D97-AF65-F5344CB8AC3E}">
        <p14:creationId xmlns:p14="http://schemas.microsoft.com/office/powerpoint/2010/main" val="18095972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fontScale="92500" lnSpcReduction="10000"/>
          </a:bodyPr>
          <a:lstStyle/>
          <a:p>
            <a:pPr algn="just">
              <a:buFont typeface="Wingdings" panose="05000000000000000000" pitchFamily="2" charset="2"/>
              <a:buChar char="v"/>
            </a:pPr>
            <a:r>
              <a:rPr lang="en-US" dirty="0" smtClean="0"/>
              <a:t>In this project, I built </a:t>
            </a:r>
            <a:r>
              <a:rPr lang="en-US" dirty="0"/>
              <a:t>a model </a:t>
            </a:r>
            <a:r>
              <a:rPr lang="en-US" dirty="0" smtClean="0"/>
              <a:t>to </a:t>
            </a:r>
            <a:r>
              <a:rPr lang="en-US" dirty="0"/>
              <a:t>predict who will be the </a:t>
            </a:r>
            <a:r>
              <a:rPr lang="en-US" dirty="0" smtClean="0"/>
              <a:t>survivors on </a:t>
            </a:r>
            <a:r>
              <a:rPr lang="en-US" dirty="0"/>
              <a:t>RMS Titanic</a:t>
            </a:r>
            <a:r>
              <a:rPr lang="en-US" dirty="0" smtClean="0"/>
              <a:t>, having the </a:t>
            </a:r>
            <a:r>
              <a:rPr lang="en-US" dirty="0"/>
              <a:t>Input Dataset containing details of </a:t>
            </a:r>
            <a:r>
              <a:rPr lang="en-US" dirty="0" smtClean="0"/>
              <a:t>891 </a:t>
            </a:r>
            <a:r>
              <a:rPr lang="en-US" dirty="0"/>
              <a:t>Individuals on board and based on that, we are going to </a:t>
            </a:r>
            <a:r>
              <a:rPr lang="en-US" dirty="0" smtClean="0"/>
              <a:t>generate a </a:t>
            </a:r>
            <a:r>
              <a:rPr lang="en-US" dirty="0"/>
              <a:t>prediction dataset for the Survivors as the output of the Model in our Project. The domain of the Project is Machine Learning, however, since it being and extensive one, just going with Binary Classification problem (Supervised), here for now</a:t>
            </a:r>
            <a:r>
              <a:rPr lang="en-US" dirty="0" smtClean="0"/>
              <a:t>.</a:t>
            </a:r>
          </a:p>
          <a:p>
            <a:pPr marL="0" indent="0" algn="just">
              <a:buNone/>
            </a:pPr>
            <a:endParaRPr lang="en-US" dirty="0" smtClean="0"/>
          </a:p>
          <a:p>
            <a:pPr marL="0" indent="0" algn="just">
              <a:buNone/>
            </a:pPr>
            <a:endParaRPr lang="en-US" dirty="0"/>
          </a:p>
          <a:p>
            <a:pPr marL="0" indent="0" algn="just">
              <a:buNone/>
            </a:pPr>
            <a:endParaRPr lang="en-US" dirty="0" smtClean="0"/>
          </a:p>
          <a:p>
            <a:pPr marL="0" indent="0" algn="just">
              <a:buNone/>
            </a:pPr>
            <a:endParaRPr lang="en-US" dirty="0"/>
          </a:p>
          <a:p>
            <a:pPr marL="0" indent="0" algn="just">
              <a:buNone/>
            </a:pPr>
            <a:endParaRPr lang="en-US" dirty="0" smtClean="0"/>
          </a:p>
          <a:p>
            <a:pPr marL="0" indent="0" algn="just">
              <a:buNone/>
            </a:pPr>
            <a:endParaRPr lang="en-US" dirty="0"/>
          </a:p>
          <a:p>
            <a:pPr marL="0" indent="0" algn="just">
              <a:buNone/>
            </a:pPr>
            <a:endParaRPr lang="en-US" dirty="0" smtClean="0"/>
          </a:p>
          <a:p>
            <a:pPr algn="just">
              <a:buFont typeface="Wingdings" panose="05000000000000000000" pitchFamily="2" charset="2"/>
              <a:buChar char="v"/>
            </a:pPr>
            <a:r>
              <a:rPr lang="en-IN" dirty="0"/>
              <a:t>This </a:t>
            </a:r>
            <a:r>
              <a:rPr lang="en-IN" b="1" i="1" dirty="0"/>
              <a:t>Project runs on a Web Browser as an IPython ( Jupyter) Notebook</a:t>
            </a:r>
            <a:r>
              <a:rPr lang="en-IN" dirty="0"/>
              <a:t> which can be run on the Systems having the Anaconda IDE Installed</a:t>
            </a:r>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3</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spcBef>
                <a:spcPct val="50000"/>
              </a:spcBef>
              <a:defRPr sz="2400" b="1">
                <a:solidFill>
                  <a:schemeClr val="bg1"/>
                </a:solidFill>
                <a:latin typeface="Calibri" pitchFamily="34" charset="0"/>
                <a:ea typeface="ＭＳ Ｐゴシック" pitchFamily="-28" charset="-128"/>
              </a:defRPr>
            </a:lvl1pPr>
          </a:lstStyle>
          <a:p>
            <a:r>
              <a:rPr lang="en-US" dirty="0"/>
              <a:t>Project Brief</a:t>
            </a: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3</a:t>
            </a:fld>
            <a:endParaRPr lang="en-IN" dirty="0">
              <a:solidFill>
                <a:schemeClr val="bg1"/>
              </a:solidFill>
            </a:endParaRPr>
          </a:p>
        </p:txBody>
      </p:sp>
      <p:sp>
        <p:nvSpPr>
          <p:cNvPr id="4" name="TextBox 3"/>
          <p:cNvSpPr txBox="1"/>
          <p:nvPr/>
        </p:nvSpPr>
        <p:spPr>
          <a:xfrm>
            <a:off x="1547664" y="6298600"/>
            <a:ext cx="184731" cy="338554"/>
          </a:xfrm>
          <a:prstGeom prst="rect">
            <a:avLst/>
          </a:prstGeom>
          <a:noFill/>
        </p:spPr>
        <p:txBody>
          <a:bodyPr wrap="none" rtlCol="0">
            <a:spAutoFit/>
          </a:bodyPr>
          <a:lstStyle/>
          <a:p>
            <a:endParaRPr lang="en-IN" sz="1600" b="1" i="1" dirty="0">
              <a:solidFill>
                <a:srgbClr val="FFFF00"/>
              </a:solidFill>
            </a:endParaRPr>
          </a:p>
        </p:txBody>
      </p:sp>
      <p:sp>
        <p:nvSpPr>
          <p:cNvPr id="11" name="TextBox 10"/>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73727" y="2916352"/>
            <a:ext cx="6192688" cy="2376264"/>
          </a:xfrm>
          <a:prstGeom prst="rect">
            <a:avLst/>
          </a:prstGeom>
        </p:spPr>
      </p:pic>
    </p:spTree>
    <p:extLst>
      <p:ext uri="{BB962C8B-B14F-4D97-AF65-F5344CB8AC3E}">
        <p14:creationId xmlns:p14="http://schemas.microsoft.com/office/powerpoint/2010/main" val="6378495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a:bodyPr>
          <a:lstStyle/>
          <a:p>
            <a:pPr lvl="1">
              <a:buFont typeface="Wingdings" panose="05000000000000000000" pitchFamily="2" charset="2"/>
              <a:buChar char="v"/>
            </a:pPr>
            <a:r>
              <a:rPr lang="en-US" sz="2200" b="1" dirty="0"/>
              <a:t>Software Platform </a:t>
            </a:r>
            <a:endParaRPr lang="en-IN" sz="1900" dirty="0"/>
          </a:p>
          <a:p>
            <a:pPr>
              <a:buFont typeface="Wingdings" panose="05000000000000000000" pitchFamily="2" charset="2"/>
              <a:buChar char="§"/>
            </a:pPr>
            <a:r>
              <a:rPr lang="en-US" b="1" dirty="0" smtClean="0"/>
              <a:t>	</a:t>
            </a:r>
            <a:r>
              <a:rPr lang="en-US" sz="1800" b="1" dirty="0" smtClean="0"/>
              <a:t>Libraries</a:t>
            </a:r>
            <a:endParaRPr lang="en-IN" sz="1800" dirty="0"/>
          </a:p>
          <a:p>
            <a:pPr marL="0" lvl="0" indent="0">
              <a:buNone/>
            </a:pPr>
            <a:r>
              <a:rPr lang="en-US" sz="1800" dirty="0" smtClean="0"/>
              <a:t>		Pandas</a:t>
            </a:r>
            <a:endParaRPr lang="en-IN" sz="1800" dirty="0"/>
          </a:p>
          <a:p>
            <a:pPr marL="0" lvl="0" indent="0">
              <a:buNone/>
            </a:pPr>
            <a:r>
              <a:rPr lang="en-US" sz="1800" dirty="0" smtClean="0"/>
              <a:t>		Numpy</a:t>
            </a:r>
            <a:endParaRPr lang="en-IN" sz="1800" dirty="0"/>
          </a:p>
          <a:p>
            <a:pPr marL="0" lvl="0" indent="0">
              <a:buNone/>
            </a:pPr>
            <a:r>
              <a:rPr lang="en-US" sz="1800" dirty="0" smtClean="0"/>
              <a:t>		Matplotlib</a:t>
            </a:r>
            <a:endParaRPr lang="en-IN" sz="1800" dirty="0"/>
          </a:p>
          <a:p>
            <a:pPr marL="0" lvl="0" indent="0">
              <a:buNone/>
            </a:pPr>
            <a:r>
              <a:rPr lang="en-US" sz="1800" dirty="0" smtClean="0"/>
              <a:t>		Scikit </a:t>
            </a:r>
            <a:r>
              <a:rPr lang="en-US" sz="1800" dirty="0"/>
              <a:t>Learn</a:t>
            </a:r>
            <a:endParaRPr lang="en-IN" sz="1800" dirty="0"/>
          </a:p>
          <a:p>
            <a:pPr marL="0" indent="0">
              <a:buNone/>
            </a:pPr>
            <a:r>
              <a:rPr lang="en-US" dirty="0"/>
              <a:t> </a:t>
            </a:r>
            <a:endParaRPr lang="en-IN" dirty="0"/>
          </a:p>
          <a:p>
            <a:pPr>
              <a:buFont typeface="Wingdings" panose="05000000000000000000" pitchFamily="2" charset="2"/>
              <a:buChar char="§"/>
            </a:pPr>
            <a:r>
              <a:rPr lang="en-US" dirty="0"/>
              <a:t>       </a:t>
            </a:r>
            <a:r>
              <a:rPr lang="en-US" dirty="0" smtClean="0"/>
              <a:t> </a:t>
            </a:r>
            <a:r>
              <a:rPr lang="en-US" sz="1800" b="1" dirty="0" smtClean="0"/>
              <a:t>Back-end</a:t>
            </a:r>
            <a:endParaRPr lang="en-IN" sz="1800" dirty="0"/>
          </a:p>
          <a:p>
            <a:pPr marL="0" lvl="0" indent="0">
              <a:buNone/>
            </a:pPr>
            <a:r>
              <a:rPr lang="en-US" sz="1800" dirty="0" smtClean="0"/>
              <a:t>		Python</a:t>
            </a:r>
            <a:endParaRPr lang="en-IN" sz="1600" dirty="0"/>
          </a:p>
          <a:p>
            <a:pPr>
              <a:buFont typeface="Wingdings" panose="05000000000000000000" pitchFamily="2" charset="2"/>
              <a:buChar char="v"/>
            </a:pPr>
            <a:r>
              <a:rPr lang="en-US" sz="2200" b="1" dirty="0" smtClean="0">
                <a:latin typeface="Calibri" panose="020F0502020204030204" pitchFamily="34" charset="0"/>
                <a:ea typeface="Times New Roman" panose="02020603050405020304" pitchFamily="18" charset="0"/>
                <a:cs typeface="Mangal" panose="02040503050203030202" pitchFamily="18" charset="0"/>
              </a:rPr>
              <a:t>Hardware </a:t>
            </a:r>
            <a:r>
              <a:rPr lang="en-US" sz="2200" b="1" dirty="0">
                <a:latin typeface="Calibri" panose="020F0502020204030204" pitchFamily="34" charset="0"/>
                <a:ea typeface="Times New Roman" panose="02020603050405020304" pitchFamily="18" charset="0"/>
                <a:cs typeface="Mangal" panose="02040503050203030202" pitchFamily="18" charset="0"/>
              </a:rPr>
              <a:t>Platform</a:t>
            </a:r>
            <a:endParaRPr lang="en-IN" sz="1700" dirty="0">
              <a:latin typeface="Calibri" panose="020F0502020204030204" pitchFamily="34" charset="0"/>
              <a:ea typeface="Droid Sans Fallback"/>
            </a:endParaRPr>
          </a:p>
          <a:p>
            <a:pPr lvl="0">
              <a:lnSpc>
                <a:spcPct val="105000"/>
              </a:lnSpc>
              <a:buFont typeface="+mj-lt"/>
              <a:buAutoNum type="alphaLcParenR"/>
            </a:pPr>
            <a:r>
              <a:rPr lang="en-US" sz="1800" dirty="0"/>
              <a:t>RAM : at least 4 GB of RAM</a:t>
            </a:r>
            <a:endParaRPr lang="en-IN" sz="1800" dirty="0"/>
          </a:p>
          <a:p>
            <a:pPr lvl="0">
              <a:lnSpc>
                <a:spcPct val="105000"/>
              </a:lnSpc>
              <a:buFont typeface="+mj-lt"/>
              <a:buAutoNum type="alphaLcParenR"/>
            </a:pPr>
            <a:r>
              <a:rPr lang="en-US" sz="1800" dirty="0"/>
              <a:t>Hard Disk : at least 5 GB of Disk Space on Hard Disk</a:t>
            </a:r>
            <a:endParaRPr lang="en-IN" sz="1800" dirty="0"/>
          </a:p>
          <a:p>
            <a:pPr lvl="0">
              <a:lnSpc>
                <a:spcPct val="105000"/>
              </a:lnSpc>
              <a:buFont typeface="+mj-lt"/>
              <a:buAutoNum type="alphaLcParenR"/>
            </a:pPr>
            <a:r>
              <a:rPr lang="en-US" sz="1800" dirty="0"/>
              <a:t>OS : Any Operating System</a:t>
            </a:r>
            <a:endParaRPr lang="en-IN" sz="1800" dirty="0"/>
          </a:p>
          <a:p>
            <a:pPr lvl="0">
              <a:lnSpc>
                <a:spcPct val="105000"/>
              </a:lnSpc>
              <a:buFont typeface="+mj-lt"/>
              <a:buAutoNum type="alphaLcParenR"/>
            </a:pPr>
            <a:r>
              <a:rPr lang="en-US" sz="1800" dirty="0"/>
              <a:t>IDE : Anaconda3 (4.3.1 x64) IDE – Python 3.6.0</a:t>
            </a:r>
            <a:endParaRPr lang="en-IN" sz="1800" dirty="0"/>
          </a:p>
          <a:p>
            <a:pPr marL="0" indent="0">
              <a:buNone/>
            </a:pP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4</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Technologies and Tools to be used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4</a:t>
            </a:fld>
            <a:endParaRPr lang="en-IN" dirty="0">
              <a:solidFill>
                <a:schemeClr val="bg1"/>
              </a:solidFill>
            </a:endParaRPr>
          </a:p>
        </p:txBody>
      </p:sp>
      <p:sp>
        <p:nvSpPr>
          <p:cNvPr id="11" name="TextBox 10"/>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spTree>
    <p:extLst>
      <p:ext uri="{BB962C8B-B14F-4D97-AF65-F5344CB8AC3E}">
        <p14:creationId xmlns:p14="http://schemas.microsoft.com/office/powerpoint/2010/main" val="28437905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a:bodyPr>
          <a:lstStyle/>
          <a:p>
            <a:pPr lvl="1">
              <a:buFont typeface="Wingdings" panose="05000000000000000000" pitchFamily="2" charset="2"/>
              <a:buChar char="v"/>
            </a:pPr>
            <a:r>
              <a:rPr lang="en-US" b="1" dirty="0"/>
              <a:t>Tools</a:t>
            </a:r>
            <a:endParaRPr lang="en-IN" sz="1800" dirty="0"/>
          </a:p>
          <a:p>
            <a:r>
              <a:rPr lang="en-US" dirty="0"/>
              <a:t>Tool Name: IPython Notebooks (Jupyter Notebooks) by Anaconda (4.3.1 x64) IDE</a:t>
            </a:r>
            <a:endParaRPr lang="en-IN" sz="2000" dirty="0"/>
          </a:p>
          <a:p>
            <a:r>
              <a:rPr lang="en-US" dirty="0"/>
              <a:t>Version: 4.3.1 x64 running on Python 3.6.0</a:t>
            </a:r>
            <a:endParaRPr lang="en-IN" sz="2000" dirty="0"/>
          </a:p>
          <a:p>
            <a:r>
              <a:rPr lang="en-US" dirty="0"/>
              <a:t>Developer(s):  Anaconda Inc. (Continuum Analytics Ltd.)</a:t>
            </a:r>
            <a:endParaRPr lang="en-IN" sz="2000" dirty="0"/>
          </a:p>
          <a:p>
            <a:r>
              <a:rPr lang="en-US" dirty="0"/>
              <a:t>Written in: </a:t>
            </a:r>
            <a:r>
              <a:rPr lang="en-US" dirty="0" smtClean="0"/>
              <a:t>Python</a:t>
            </a:r>
          </a:p>
          <a:p>
            <a:pPr lvl="0"/>
            <a:r>
              <a:rPr lang="en-US" dirty="0"/>
              <a:t>Browser </a:t>
            </a:r>
            <a:r>
              <a:rPr lang="en-US" dirty="0" smtClean="0"/>
              <a:t>Used: </a:t>
            </a:r>
            <a:r>
              <a:rPr lang="en-US" dirty="0"/>
              <a:t>Google Chrome (Recommended) or Mozilla </a:t>
            </a:r>
            <a:r>
              <a:rPr lang="en-US" dirty="0" smtClean="0"/>
              <a:t>Firefox</a:t>
            </a:r>
            <a:endParaRPr lang="en-IN" dirty="0"/>
          </a:p>
          <a:p>
            <a:pPr marL="0" indent="0">
              <a:buNone/>
            </a:pP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5</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Technologies and Tools to be used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5</a:t>
            </a:fld>
            <a:endParaRPr lang="en-IN" dirty="0">
              <a:solidFill>
                <a:schemeClr val="bg1"/>
              </a:solidFill>
            </a:endParaRPr>
          </a:p>
        </p:txBody>
      </p:sp>
      <p:sp>
        <p:nvSpPr>
          <p:cNvPr id="11" name="TextBox 10"/>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spTree>
    <p:extLst>
      <p:ext uri="{BB962C8B-B14F-4D97-AF65-F5344CB8AC3E}">
        <p14:creationId xmlns:p14="http://schemas.microsoft.com/office/powerpoint/2010/main" val="1804518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pic>
        <p:nvPicPr>
          <p:cNvPr id="7" name="Content Placeholder 6"/>
          <p:cNvPicPr>
            <a:picLocks noGrp="1" noChangeAspect="1"/>
          </p:cNvPicPr>
          <p:nvPr>
            <p:ph idx="1"/>
          </p:nvPr>
        </p:nvPicPr>
        <p:blipFill>
          <a:blip r:embed="rId3"/>
          <a:stretch>
            <a:fillRect/>
          </a:stretch>
        </p:blipFill>
        <p:spPr>
          <a:xfrm>
            <a:off x="611561" y="1700808"/>
            <a:ext cx="8208912" cy="3240360"/>
          </a:xfrm>
          <a:prstGeom prst="rect">
            <a:avLst/>
          </a:prstGeom>
        </p:spPr>
      </p:pic>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6</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Context Diagram (Overall Project)</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6</a:t>
            </a:fld>
            <a:endParaRPr lang="en-IN" dirty="0">
              <a:solidFill>
                <a:schemeClr val="bg1"/>
              </a:solidFill>
            </a:endParaRPr>
          </a:p>
        </p:txBody>
      </p:sp>
      <p:sp>
        <p:nvSpPr>
          <p:cNvPr id="10" name="TextBox 9"/>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spTree>
    <p:extLst>
      <p:ext uri="{BB962C8B-B14F-4D97-AF65-F5344CB8AC3E}">
        <p14:creationId xmlns:p14="http://schemas.microsoft.com/office/powerpoint/2010/main" val="40683481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7</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Data Flow Diagram (DFD)</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7</a:t>
            </a:fld>
            <a:endParaRPr lang="en-IN" dirty="0">
              <a:solidFill>
                <a:schemeClr val="bg1"/>
              </a:solidFill>
            </a:endParaRPr>
          </a:p>
        </p:txBody>
      </p:sp>
      <p:sp>
        <p:nvSpPr>
          <p:cNvPr id="11" name="TextBox 10"/>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pic>
        <p:nvPicPr>
          <p:cNvPr id="12" name="Content Placeholder 11"/>
          <p:cNvPicPr>
            <a:picLocks noGrp="1"/>
          </p:cNvPicPr>
          <p:nvPr>
            <p:ph idx="1"/>
          </p:nvPr>
        </p:nvPicPr>
        <p:blipFill rotWithShape="1">
          <a:blip r:embed="rId4"/>
          <a:srcRect l="20193" t="23945" r="21474" b="8780"/>
          <a:stretch/>
        </p:blipFill>
        <p:spPr bwMode="auto">
          <a:xfrm>
            <a:off x="777103" y="1079474"/>
            <a:ext cx="7589794" cy="49213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5994465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fontScale="77500" lnSpcReduction="20000"/>
          </a:bodyPr>
          <a:lstStyle/>
          <a:p>
            <a:pPr algn="just">
              <a:buFont typeface="Wingdings" panose="05000000000000000000" pitchFamily="2" charset="2"/>
              <a:buChar char="v"/>
            </a:pPr>
            <a:endParaRPr lang="en-IN" dirty="0"/>
          </a:p>
          <a:p>
            <a:pPr algn="just">
              <a:buFont typeface="Wingdings" panose="05000000000000000000" pitchFamily="2" charset="2"/>
              <a:buChar char="v"/>
            </a:pPr>
            <a:r>
              <a:rPr lang="en-IN" dirty="0" smtClean="0"/>
              <a:t>Can </a:t>
            </a:r>
            <a:r>
              <a:rPr lang="en-IN" dirty="0"/>
              <a:t>be used cross platform any time subject to IDE availability as it’s an IPython Notebook and can be enhanced by retraining model on same large dataset.</a:t>
            </a:r>
          </a:p>
          <a:p>
            <a:pPr algn="just">
              <a:buFont typeface="Wingdings" panose="05000000000000000000" pitchFamily="2" charset="2"/>
              <a:buChar char="v"/>
            </a:pPr>
            <a:endParaRPr lang="en-IN" dirty="0"/>
          </a:p>
          <a:p>
            <a:pPr algn="just">
              <a:buFont typeface="Wingdings" panose="05000000000000000000" pitchFamily="2" charset="2"/>
              <a:buChar char="v"/>
            </a:pPr>
            <a:r>
              <a:rPr lang="en-IN" dirty="0" smtClean="0"/>
              <a:t>Can </a:t>
            </a:r>
            <a:r>
              <a:rPr lang="en-IN" dirty="0"/>
              <a:t>Predict Survivors of RMS Titanic with almost 72 percent accuracy in testing phase. </a:t>
            </a:r>
          </a:p>
          <a:p>
            <a:pPr algn="just">
              <a:buFont typeface="Wingdings" panose="05000000000000000000" pitchFamily="2" charset="2"/>
              <a:buChar char="v"/>
            </a:pPr>
            <a:endParaRPr lang="en-IN" dirty="0"/>
          </a:p>
          <a:p>
            <a:pPr algn="just">
              <a:buFont typeface="Wingdings" panose="05000000000000000000" pitchFamily="2" charset="2"/>
              <a:buChar char="v"/>
            </a:pPr>
            <a:r>
              <a:rPr lang="en-IN" dirty="0" smtClean="0"/>
              <a:t>The </a:t>
            </a:r>
            <a:r>
              <a:rPr lang="en-IN" dirty="0"/>
              <a:t>Same model could be retrained for other similar problems of Binary Classification.</a:t>
            </a:r>
          </a:p>
          <a:p>
            <a:pPr algn="just">
              <a:buFont typeface="Wingdings" panose="05000000000000000000" pitchFamily="2" charset="2"/>
              <a:buChar char="v"/>
            </a:pPr>
            <a:endParaRPr lang="en-IN" dirty="0"/>
          </a:p>
          <a:p>
            <a:pPr algn="just">
              <a:buFont typeface="Wingdings" panose="05000000000000000000" pitchFamily="2" charset="2"/>
              <a:buChar char="v"/>
            </a:pPr>
            <a:r>
              <a:rPr lang="en-IN" dirty="0" smtClean="0"/>
              <a:t>The </a:t>
            </a:r>
            <a:r>
              <a:rPr lang="en-IN" dirty="0"/>
              <a:t>resultant predictions are almost instantly exported as another dataset by the model.</a:t>
            </a:r>
          </a:p>
          <a:p>
            <a:pPr algn="just">
              <a:buFont typeface="Wingdings" panose="05000000000000000000" pitchFamily="2" charset="2"/>
              <a:buChar char="v"/>
            </a:pPr>
            <a:endParaRPr lang="en-IN" dirty="0"/>
          </a:p>
          <a:p>
            <a:pPr algn="just">
              <a:buFont typeface="Wingdings" panose="05000000000000000000" pitchFamily="2" charset="2"/>
              <a:buChar char="v"/>
            </a:pPr>
            <a:r>
              <a:rPr lang="en-IN" dirty="0" smtClean="0"/>
              <a:t>It </a:t>
            </a:r>
            <a:r>
              <a:rPr lang="en-IN" dirty="0"/>
              <a:t>is extensively used in the industry with manifestations as other business problems.</a:t>
            </a:r>
          </a:p>
          <a:p>
            <a:pPr algn="just">
              <a:buFont typeface="Wingdings" panose="05000000000000000000" pitchFamily="2" charset="2"/>
              <a:buChar char="v"/>
            </a:pPr>
            <a:endParaRPr lang="en-IN" dirty="0"/>
          </a:p>
          <a:p>
            <a:pPr algn="just">
              <a:buFont typeface="Wingdings" panose="05000000000000000000" pitchFamily="2" charset="2"/>
              <a:buChar char="v"/>
            </a:pPr>
            <a:r>
              <a:rPr lang="en-IN" dirty="0" smtClean="0"/>
              <a:t>The </a:t>
            </a:r>
            <a:r>
              <a:rPr lang="en-IN" dirty="0"/>
              <a:t>Project doesn’t takes any user data or third party data apart from the input dataset for its usage, being concerned and inclined towards user or business privacy without denying user for accessing any feature of the Project.</a:t>
            </a:r>
          </a:p>
          <a:p>
            <a:pPr algn="just">
              <a:buFont typeface="Wingdings" panose="05000000000000000000" pitchFamily="2" charset="2"/>
              <a:buChar char="v"/>
            </a:pP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8</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Advantages of The Project</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8</a:t>
            </a:fld>
            <a:endParaRPr lang="en-IN" dirty="0">
              <a:solidFill>
                <a:schemeClr val="bg1"/>
              </a:solidFill>
            </a:endParaRPr>
          </a:p>
        </p:txBody>
      </p:sp>
      <p:sp>
        <p:nvSpPr>
          <p:cNvPr id="11" name="TextBox 10"/>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spTree>
    <p:extLst>
      <p:ext uri="{BB962C8B-B14F-4D97-AF65-F5344CB8AC3E}">
        <p14:creationId xmlns:p14="http://schemas.microsoft.com/office/powerpoint/2010/main" val="2585641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dirty="0"/>
          </a:p>
        </p:txBody>
      </p:sp>
      <p:sp>
        <p:nvSpPr>
          <p:cNvPr id="5" name="Content Placeholder 4"/>
          <p:cNvSpPr>
            <a:spLocks noGrp="1"/>
          </p:cNvSpPr>
          <p:nvPr>
            <p:ph idx="1"/>
          </p:nvPr>
        </p:nvSpPr>
        <p:spPr>
          <a:xfrm>
            <a:off x="0" y="914400"/>
            <a:ext cx="9144000" cy="5250904"/>
          </a:xfrm>
        </p:spPr>
        <p:txBody>
          <a:bodyPr>
            <a:normAutofit fontScale="92500" lnSpcReduction="10000"/>
          </a:bodyPr>
          <a:lstStyle/>
          <a:p>
            <a:pPr marL="0" indent="0" algn="just">
              <a:buNone/>
            </a:pPr>
            <a:r>
              <a:rPr lang="en-IN" dirty="0"/>
              <a:t>a) Books</a:t>
            </a:r>
          </a:p>
          <a:p>
            <a:pPr algn="just">
              <a:buFont typeface="Wingdings" panose="05000000000000000000" pitchFamily="2" charset="2"/>
              <a:buChar char="v"/>
            </a:pPr>
            <a:r>
              <a:rPr lang="en-IN" dirty="0" smtClean="0"/>
              <a:t>Advanced </a:t>
            </a:r>
            <a:r>
              <a:rPr lang="en-IN" dirty="0"/>
              <a:t>Engineering Mathematics by Erwin Keyszig</a:t>
            </a:r>
          </a:p>
          <a:p>
            <a:pPr algn="just">
              <a:buFont typeface="Wingdings" panose="05000000000000000000" pitchFamily="2" charset="2"/>
              <a:buChar char="v"/>
            </a:pPr>
            <a:r>
              <a:rPr lang="en-IN" dirty="0" smtClean="0"/>
              <a:t>Higher </a:t>
            </a:r>
            <a:r>
              <a:rPr lang="en-IN" dirty="0"/>
              <a:t>Engineering Mathematics by BS Grewal and HK Das</a:t>
            </a:r>
          </a:p>
          <a:p>
            <a:pPr algn="just">
              <a:buFont typeface="Wingdings" panose="05000000000000000000" pitchFamily="2" charset="2"/>
              <a:buChar char="v"/>
            </a:pPr>
            <a:r>
              <a:rPr lang="en-IN" dirty="0" smtClean="0"/>
              <a:t>Linear </a:t>
            </a:r>
            <a:r>
              <a:rPr lang="en-IN" dirty="0"/>
              <a:t>Algebra by Gilbert Stang and Think Stats by Allen B Downey</a:t>
            </a:r>
          </a:p>
          <a:p>
            <a:pPr algn="just">
              <a:buFont typeface="Wingdings" panose="05000000000000000000" pitchFamily="2" charset="2"/>
              <a:buChar char="v"/>
            </a:pPr>
            <a:r>
              <a:rPr lang="en-IN" dirty="0" smtClean="0"/>
              <a:t>Software </a:t>
            </a:r>
            <a:r>
              <a:rPr lang="en-IN" dirty="0"/>
              <a:t>Engineering Principles and Practices by Roger Pressman</a:t>
            </a:r>
          </a:p>
          <a:p>
            <a:pPr algn="just">
              <a:buFont typeface="Wingdings" panose="05000000000000000000" pitchFamily="2" charset="2"/>
              <a:buChar char="v"/>
            </a:pPr>
            <a:endParaRPr lang="en-IN" dirty="0"/>
          </a:p>
          <a:p>
            <a:pPr marL="0" indent="0" algn="just">
              <a:buNone/>
            </a:pPr>
            <a:r>
              <a:rPr lang="en-IN" dirty="0"/>
              <a:t>b) Websites</a:t>
            </a:r>
          </a:p>
          <a:p>
            <a:pPr algn="just">
              <a:buFont typeface="Wingdings" panose="05000000000000000000" pitchFamily="2" charset="2"/>
              <a:buChar char="v"/>
            </a:pPr>
            <a:r>
              <a:rPr lang="en-IN" dirty="0" smtClean="0"/>
              <a:t>www.google.com</a:t>
            </a:r>
            <a:endParaRPr lang="en-IN" dirty="0"/>
          </a:p>
          <a:p>
            <a:pPr algn="just">
              <a:buFont typeface="Wingdings" panose="05000000000000000000" pitchFamily="2" charset="2"/>
              <a:buChar char="v"/>
            </a:pPr>
            <a:r>
              <a:rPr lang="en-IN" dirty="0" smtClean="0"/>
              <a:t>www.trainings.internshala.com</a:t>
            </a:r>
            <a:endParaRPr lang="en-IN" dirty="0"/>
          </a:p>
          <a:p>
            <a:pPr algn="just">
              <a:buFont typeface="Wingdings" panose="05000000000000000000" pitchFamily="2" charset="2"/>
              <a:buChar char="v"/>
            </a:pPr>
            <a:r>
              <a:rPr lang="en-IN" dirty="0" smtClean="0"/>
              <a:t>www.youtube.com</a:t>
            </a:r>
            <a:endParaRPr lang="en-IN" dirty="0"/>
          </a:p>
          <a:p>
            <a:pPr algn="just">
              <a:buFont typeface="Wingdings" panose="05000000000000000000" pitchFamily="2" charset="2"/>
              <a:buChar char="v"/>
            </a:pPr>
            <a:r>
              <a:rPr lang="en-IN" dirty="0" smtClean="0"/>
              <a:t>www.edx.com</a:t>
            </a:r>
            <a:endParaRPr lang="en-IN" dirty="0"/>
          </a:p>
          <a:p>
            <a:pPr algn="just">
              <a:buFont typeface="Wingdings" panose="05000000000000000000" pitchFamily="2" charset="2"/>
              <a:buChar char="v"/>
            </a:pPr>
            <a:r>
              <a:rPr lang="en-IN" dirty="0" smtClean="0"/>
              <a:t>www.kaggle.com</a:t>
            </a:r>
            <a:endParaRPr lang="en-IN" dirty="0"/>
          </a:p>
          <a:p>
            <a:pPr algn="just">
              <a:buFont typeface="Wingdings" panose="05000000000000000000" pitchFamily="2" charset="2"/>
              <a:buChar char="v"/>
            </a:pPr>
            <a:r>
              <a:rPr lang="en-IN" dirty="0" smtClean="0"/>
              <a:t>www.stackoverflow.com</a:t>
            </a:r>
            <a:endParaRPr lang="en-IN" dirty="0"/>
          </a:p>
          <a:p>
            <a:pPr algn="just">
              <a:buFont typeface="Wingdings" panose="05000000000000000000" pitchFamily="2" charset="2"/>
              <a:buChar char="v"/>
            </a:pPr>
            <a:r>
              <a:rPr lang="en-IN" dirty="0" smtClean="0"/>
              <a:t>www.geeksforgeeks.com</a:t>
            </a:r>
            <a:endParaRPr lang="en-IN" dirty="0"/>
          </a:p>
          <a:p>
            <a:pPr>
              <a:buFont typeface="Wingdings" panose="05000000000000000000" pitchFamily="2" charset="2"/>
              <a:buChar char="v"/>
            </a:pPr>
            <a:endParaRPr lang="en-IN" dirty="0"/>
          </a:p>
        </p:txBody>
      </p:sp>
      <p:sp>
        <p:nvSpPr>
          <p:cNvPr id="2" name="Slide Number Placeholder 1"/>
          <p:cNvSpPr>
            <a:spLocks noGrp="1"/>
          </p:cNvSpPr>
          <p:nvPr>
            <p:ph type="sldNum" sz="quarter" idx="12"/>
          </p:nvPr>
        </p:nvSpPr>
        <p:spPr/>
        <p:txBody>
          <a:bodyPr/>
          <a:lstStyle/>
          <a:p>
            <a:fld id="{08FC1071-F2DF-4CA9-AA63-FF97A16BD739}" type="slidenum">
              <a:rPr lang="en-IN" smtClean="0">
                <a:solidFill>
                  <a:schemeClr val="bg1"/>
                </a:solidFill>
              </a:rPr>
              <a:pPr/>
              <a:t>9</a:t>
            </a:fld>
            <a:endParaRPr lang="en-IN" dirty="0">
              <a:solidFill>
                <a:schemeClr val="bg1"/>
              </a:solidFill>
            </a:endParaRPr>
          </a:p>
        </p:txBody>
      </p:sp>
      <p:sp>
        <p:nvSpPr>
          <p:cNvPr id="485380" name="Rectangle 4"/>
          <p:cNvSpPr>
            <a:spLocks noChangeArrowheads="1"/>
          </p:cNvSpPr>
          <p:nvPr/>
        </p:nvSpPr>
        <p:spPr bwMode="auto">
          <a:xfrm>
            <a:off x="0" y="0"/>
            <a:ext cx="9144000" cy="914400"/>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485381" name="Text Box 5"/>
          <p:cNvSpPr txBox="1">
            <a:spLocks noChangeArrowheads="1"/>
          </p:cNvSpPr>
          <p:nvPr/>
        </p:nvSpPr>
        <p:spPr bwMode="auto">
          <a:xfrm>
            <a:off x="0" y="0"/>
            <a:ext cx="61727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smtClean="0">
                <a:solidFill>
                  <a:schemeClr val="bg1"/>
                </a:solidFill>
                <a:latin typeface="Calibri" pitchFamily="34" charset="0"/>
                <a:ea typeface="ＭＳ Ｐゴシック" pitchFamily="-28" charset="-128"/>
              </a:rPr>
              <a:t>References, if any</a:t>
            </a:r>
            <a:endParaRPr lang="en-US" b="1" dirty="0">
              <a:solidFill>
                <a:schemeClr val="bg1"/>
              </a:solidFill>
              <a:latin typeface="Calibri" pitchFamily="34" charset="0"/>
              <a:ea typeface="ＭＳ Ｐゴシック" pitchFamily="-28" charset="-128"/>
            </a:endParaRPr>
          </a:p>
        </p:txBody>
      </p:sp>
      <p:sp>
        <p:nvSpPr>
          <p:cNvPr id="485384" name="Rectangle 8"/>
          <p:cNvSpPr>
            <a:spLocks noChangeArrowheads="1"/>
          </p:cNvSpPr>
          <p:nvPr/>
        </p:nvSpPr>
        <p:spPr bwMode="auto">
          <a:xfrm>
            <a:off x="0" y="6165304"/>
            <a:ext cx="9144000" cy="692696"/>
          </a:xfrm>
          <a:prstGeom prst="rect">
            <a:avLst/>
          </a:prstGeom>
          <a:solidFill>
            <a:srgbClr val="71161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pic>
        <p:nvPicPr>
          <p:cNvPr id="485394" name="Picture 18" descr="Teerthanker Mahaveer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712" y="33879"/>
            <a:ext cx="2952750" cy="685800"/>
          </a:xfrm>
          <a:prstGeom prst="rect">
            <a:avLst/>
          </a:prstGeom>
          <a:noFill/>
          <a:extLst>
            <a:ext uri="{909E8E84-426E-40DD-AFC4-6F175D3DCCD1}">
              <a14:hiddenFill xmlns:a14="http://schemas.microsoft.com/office/drawing/2010/main">
                <a:solidFill>
                  <a:srgbClr val="FFFFFF"/>
                </a:solidFill>
              </a14:hiddenFill>
            </a:ext>
          </a:extLst>
        </p:spPr>
      </p:pic>
      <p:sp>
        <p:nvSpPr>
          <p:cNvPr id="14" name="Slide Number Placeholder 3"/>
          <p:cNvSpPr txBox="1">
            <a:spLocks/>
          </p:cNvSpPr>
          <p:nvPr/>
        </p:nvSpPr>
        <p:spPr>
          <a:xfrm>
            <a:off x="0" y="6492875"/>
            <a:ext cx="467072"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FC1071-F2DF-4CA9-AA63-FF97A16BD739}" type="slidenum">
              <a:rPr lang="en-IN" smtClean="0">
                <a:solidFill>
                  <a:schemeClr val="bg1"/>
                </a:solidFill>
              </a:rPr>
              <a:pPr/>
              <a:t>9</a:t>
            </a:fld>
            <a:endParaRPr lang="en-IN" dirty="0">
              <a:solidFill>
                <a:schemeClr val="bg1"/>
              </a:solidFill>
            </a:endParaRPr>
          </a:p>
        </p:txBody>
      </p:sp>
      <p:sp>
        <p:nvSpPr>
          <p:cNvPr id="10" name="TextBox 9"/>
          <p:cNvSpPr txBox="1"/>
          <p:nvPr/>
        </p:nvSpPr>
        <p:spPr>
          <a:xfrm>
            <a:off x="7987914" y="6594672"/>
            <a:ext cx="1178528" cy="253916"/>
          </a:xfrm>
          <a:prstGeom prst="rect">
            <a:avLst/>
          </a:prstGeom>
          <a:noFill/>
        </p:spPr>
        <p:txBody>
          <a:bodyPr wrap="none" rtlCol="0">
            <a:spAutoFit/>
          </a:bodyPr>
          <a:lstStyle/>
          <a:p>
            <a:r>
              <a:rPr lang="en-IN" sz="1050" b="1" dirty="0" smtClean="0">
                <a:solidFill>
                  <a:schemeClr val="bg1"/>
                </a:solidFill>
              </a:rPr>
              <a:t>T002/ Version 1.0</a:t>
            </a:r>
            <a:endParaRPr lang="en-IN" sz="1050" b="1" dirty="0">
              <a:solidFill>
                <a:schemeClr val="bg1"/>
              </a:solidFill>
            </a:endParaRPr>
          </a:p>
        </p:txBody>
      </p:sp>
    </p:spTree>
    <p:extLst>
      <p:ext uri="{BB962C8B-B14F-4D97-AF65-F5344CB8AC3E}">
        <p14:creationId xmlns:p14="http://schemas.microsoft.com/office/powerpoint/2010/main" val="25856418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4000" dirty="0"/>
              <a:t>End of Project </a:t>
            </a:r>
            <a:r>
              <a:rPr lang="en-US" sz="4000" dirty="0" smtClean="0"/>
              <a:t>Synopsis Presentation</a:t>
            </a:r>
            <a:r>
              <a:rPr lang="en-IN" sz="4000" dirty="0"/>
              <a:t/>
            </a:r>
            <a:br>
              <a:rPr lang="en-IN" sz="4000" dirty="0"/>
            </a:br>
            <a:endParaRPr lang="en-IN" sz="4000" dirty="0"/>
          </a:p>
        </p:txBody>
      </p:sp>
      <p:sp>
        <p:nvSpPr>
          <p:cNvPr id="4" name="Slide Number Placeholder 3"/>
          <p:cNvSpPr>
            <a:spLocks noGrp="1"/>
          </p:cNvSpPr>
          <p:nvPr>
            <p:ph type="sldNum" sz="quarter" idx="12"/>
          </p:nvPr>
        </p:nvSpPr>
        <p:spPr/>
        <p:txBody>
          <a:bodyPr/>
          <a:lstStyle/>
          <a:p>
            <a:fld id="{08FC1071-F2DF-4CA9-AA63-FF97A16BD739}" type="slidenum">
              <a:rPr lang="en-IN" smtClean="0"/>
              <a:t>10</a:t>
            </a:fld>
            <a:endParaRPr lang="en-IN" dirty="0"/>
          </a:p>
        </p:txBody>
      </p:sp>
      <p:pic>
        <p:nvPicPr>
          <p:cNvPr id="3" name="Picture 2"/>
          <p:cNvPicPr>
            <a:picLocks noChangeAspect="1"/>
          </p:cNvPicPr>
          <p:nvPr/>
        </p:nvPicPr>
        <p:blipFill>
          <a:blip r:embed="rId2"/>
          <a:stretch>
            <a:fillRect/>
          </a:stretch>
        </p:blipFill>
        <p:spPr>
          <a:xfrm>
            <a:off x="2950323" y="3284984"/>
            <a:ext cx="3243353" cy="2170364"/>
          </a:xfrm>
          <a:prstGeom prst="rect">
            <a:avLst/>
          </a:prstGeom>
        </p:spPr>
      </p:pic>
    </p:spTree>
    <p:extLst>
      <p:ext uri="{BB962C8B-B14F-4D97-AF65-F5344CB8AC3E}">
        <p14:creationId xmlns:p14="http://schemas.microsoft.com/office/powerpoint/2010/main" val="40407188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2312</TotalTime>
  <Words>585</Words>
  <Application>Microsoft Office PowerPoint</Application>
  <PresentationFormat>On-screen Show (4:3)</PresentationFormat>
  <Paragraphs>110</Paragraphs>
  <Slides>10</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ＭＳ Ｐゴシック</vt:lpstr>
      <vt:lpstr>Arial</vt:lpstr>
      <vt:lpstr>Calibri</vt:lpstr>
      <vt:lpstr>Droid Sans Fallback</vt:lpstr>
      <vt:lpstr>Mangal</vt:lpstr>
      <vt:lpstr>Times New Roman</vt:lpstr>
      <vt:lpstr>Wingdings</vt:lpstr>
      <vt:lpstr>Office Theme</vt:lpstr>
      <vt:lpstr> TITANIC SURVIVORS PREDICTION – MACHINE LEARNING Industrial Training Project Synopsis Presentation  Date: 08/09/2020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of Project Synopsis Presentation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Rashmi Jain</dc:creator>
  <cp:lastModifiedBy>Manish Gupta</cp:lastModifiedBy>
  <cp:revision>103</cp:revision>
  <dcterms:created xsi:type="dcterms:W3CDTF">2016-07-30T14:16:51Z</dcterms:created>
  <dcterms:modified xsi:type="dcterms:W3CDTF">2020-09-08T13:15:23Z</dcterms:modified>
</cp:coreProperties>
</file>